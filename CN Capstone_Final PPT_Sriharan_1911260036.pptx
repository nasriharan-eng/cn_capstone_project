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A883CC-A877-492A-8039-420B785433D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2973" autoAdjust="0"/>
  </p:normalViewPr>
  <p:slideViewPr>
    <p:cSldViewPr snapToGrid="0" snapToObjects="1">
      <p:cViewPr varScale="1">
        <p:scale>
          <a:sx n="71" d="100"/>
          <a:sy n="71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8B000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4002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PROPOSAL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509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E-Reader Resource Allocation &amp;</a:t>
            </a:r>
            <a:endParaRPr lang="en-US" sz="46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Asset Lending Portal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61105"/>
            <a:ext cx="7863840" cy="2072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for managing physical e-reader inventory, licensed digital collections, and equitable patron access across a distributed library network.</a:t>
            </a: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</a:t>
            </a:r>
          </a:p>
          <a:p>
            <a:pPr marL="0" indent="0">
              <a:buNone/>
            </a:pPr>
            <a:r>
              <a:rPr lang="en-US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dirty="0" err="1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Ashwanth</a:t>
            </a:r>
            <a:r>
              <a:rPr lang="en-US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 Reg No:1921260012</a:t>
            </a:r>
          </a:p>
          <a:p>
            <a:pPr marL="0" indent="0">
              <a:buNone/>
            </a:pPr>
            <a:r>
              <a:rPr lang="en-US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dirty="0" err="1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Yokesh</a:t>
            </a:r>
            <a:r>
              <a:rPr lang="en-US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</a:t>
            </a:r>
            <a:r>
              <a:rPr lang="en-US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Reg No:1921260017</a:t>
            </a: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N A </a:t>
            </a:r>
            <a:r>
              <a:rPr lang="en-US" sz="1800" dirty="0" err="1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SriHaran</a:t>
            </a:r>
            <a:r>
              <a:rPr lang="en-US" sz="180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 No:1911260036</a:t>
            </a: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8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03519"/>
            <a:ext cx="7315200" cy="1258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C8DB05-247E-95B7-1DDF-246A52339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105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Landscape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device scarcity and license waste persist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105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Objectives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2039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outcomes the portal is built to deliver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0779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807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&amp; Journeys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36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Patrons, librarians, and system administrators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278892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90779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2807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3136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lending, allocation, and analytics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050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Data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4233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schema, and integrations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88620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0050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Engine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233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 that decides who gets what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023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001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Metrics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17320" y="5330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delivery, KPIs, risks, and budget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51023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95160" y="5001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95160" y="5330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privacy, and accessibility commitments</a:t>
            </a:r>
            <a:endParaRPr lang="en-US" sz="13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D406541-59DA-F9DF-DA6B-4D43C30F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Outpaces the Devices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4290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64008" cy="20116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Waitlists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tracked in spreadsheets and email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queue position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hours reconciling records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290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45920"/>
            <a:ext cx="64008" cy="2011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 Inventory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230428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sit uncharged in back rooms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units are chased by phone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or repair history kept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290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64008" cy="20116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 Waste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21040" y="230428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Concurrent-use seats expire unused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titles bought across branches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decided without usage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0835640" cy="1874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Patrons in the highest-need groups — students without home broadband, homebound readers, and adult literacy learners — wait longest, because allocation is first-come-first-served rather than need-aware. Meanwhile paid-for digital seats go unclaimed in the same month.</a:t>
            </a:r>
            <a:endParaRPr lang="en-US" sz="1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A0AB4AF-DC2E-2F66-12D4-BE7DD81A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Portal for Every Resource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120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reader in the network can find, request, and receive the right reading resource — physical or digital — within one working day, and every asset the library owns is accounted for at all times.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1463040" cy="457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Need-aware, transparent allocation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assets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purchasing decisions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5440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645920"/>
            <a:ext cx="64008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average wait time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 days to under 5 days for priority requests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706624"/>
            <a:ext cx="5440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706624"/>
            <a:ext cx="64008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843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device utilisation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85% of the fleet actively circulating each week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767328"/>
            <a:ext cx="5440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767328"/>
            <a:ext cx="64008" cy="91440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904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unused licenses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42428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and reassign idle concurrent-use seats weekly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4828032"/>
            <a:ext cx="5440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4828032"/>
            <a:ext cx="64008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965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Eliminate manual tracking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branch spreadsheets within two quarters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1A75D22-AB72-3E3C-3516-1F8BF939D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the Portal Serves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877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2587752" cy="5669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2316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catalogue by format and language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device or reserve a digital title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queue position and pickup window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Renew, return, or report a fault online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10712" y="1645920"/>
            <a:ext cx="25877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645920"/>
            <a:ext cx="25877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Librarians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42316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devices in and out with a barcode scan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Wipe, charge, and re-shelve returned units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allocation with a logged justification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damage and open repair tickets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81344" y="1645920"/>
            <a:ext cx="25877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645920"/>
            <a:ext cx="2587752" cy="56692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 Managers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82512" y="242316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license consumption per publisher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hold ratios against copies owned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renewals from real usage evidence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stock across branches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51976" y="1645920"/>
            <a:ext cx="25877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51976" y="1645920"/>
            <a:ext cx="2587752" cy="5669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34856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53144" y="242316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roles, branches, and access policy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allocation weights and rules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override and data export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integrations and uptime</a:t>
            </a:r>
            <a:endParaRPr lang="en-US" sz="13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089309-59C2-43B0-CFE9-729FEF46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Modules, One Workflow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" cy="1920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Registry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e-reader, tablet, and accessory with serial number, firmware, battery health, and condition grade.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91640"/>
            <a:ext cx="64008" cy="1920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Rights Ledger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23500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license type, seat count, expiry date, and publisher terms for each digital title.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91640"/>
            <a:ext cx="64008" cy="19202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&amp; Queue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21040" y="23500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Patron-facing intake with eligibility checks, format preference, and live queue position.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94760"/>
            <a:ext cx="64008" cy="1920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95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Engine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4400" y="44531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open requests nightly, then proposes assignments for staff confirmation.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379476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3794760"/>
            <a:ext cx="64008" cy="1920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3995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Circulation Desk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617720" y="44531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check-out and check-in, condition capture, loan extension, and overdue escalation.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379476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3794760"/>
            <a:ext cx="64008" cy="19202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3995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Dashboard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321040" y="44531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Utilisation, wait times, unmet demand by branch, and renewal recommendations.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085CE83-6F73-E194-E9DA-FCDAF81F1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0989"/>
            <a:ext cx="3230880" cy="778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JOURNEY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Request to Return in Six Steps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658368" cy="6583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002536"/>
            <a:ext cx="1097280" cy="36576"/>
          </a:xfrm>
          <a:prstGeom prst="rect">
            <a:avLst/>
          </a:prstGeom>
          <a:solidFill>
            <a:srgbClr val="C9B9B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unified catalogue; filters cover format, language, and accessibility features.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35808" y="1691640"/>
            <a:ext cx="658368" cy="65836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67328" y="2002536"/>
            <a:ext cx="1097280" cy="36576"/>
          </a:xfrm>
          <a:prstGeom prst="rect">
            <a:avLst/>
          </a:prstGeom>
          <a:solidFill>
            <a:srgbClr val="C9B9B9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32888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request with a preferred branch, pickup window, and optional need declaration.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82896" y="1691640"/>
            <a:ext cx="658368" cy="6583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2002536"/>
            <a:ext cx="1097280" cy="36576"/>
          </a:xfrm>
          <a:prstGeom prst="rect">
            <a:avLst/>
          </a:prstGeom>
          <a:solidFill>
            <a:srgbClr val="C9B9B9"/>
          </a:solidFill>
          <a:ln/>
        </p:spPr>
      </p:sp>
      <p:sp>
        <p:nvSpPr>
          <p:cNvPr id="19" name="Text 17"/>
          <p:cNvSpPr/>
          <p:nvPr/>
        </p:nvSpPr>
        <p:spPr>
          <a:xfrm>
            <a:off x="4425696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79976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scores the request against equity, wait time, and purpose criteria overnight.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9984" y="1691640"/>
            <a:ext cx="658368" cy="65836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984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61504" y="2002536"/>
            <a:ext cx="1097280" cy="36576"/>
          </a:xfrm>
          <a:prstGeom prst="rect">
            <a:avLst/>
          </a:prstGeom>
          <a:solidFill>
            <a:srgbClr val="C9B9B9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27064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confirm the proposed match; the patron receives a hold notice with a 48-hour window.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77072" y="1691640"/>
            <a:ext cx="658368" cy="6583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77072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08592" y="2002536"/>
            <a:ext cx="1097280" cy="36576"/>
          </a:xfrm>
          <a:prstGeom prst="rect">
            <a:avLst/>
          </a:prstGeom>
          <a:solidFill>
            <a:srgbClr val="C9B9B9"/>
          </a:solidFill>
          <a:ln/>
        </p:spPr>
      </p:sp>
      <p:sp>
        <p:nvSpPr>
          <p:cNvPr id="29" name="Text 27"/>
          <p:cNvSpPr/>
          <p:nvPr/>
        </p:nvSpPr>
        <p:spPr>
          <a:xfrm>
            <a:off x="8119872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074152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at the branch or courier delivery for homebound patrons; device is pre-charged and wiped.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424160" y="1691640"/>
            <a:ext cx="658368" cy="65836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1828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921240" y="285292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by scan or drop-box; condition is logged and the unit re-enters the pool the same day.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074920"/>
            <a:ext cx="108356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074920"/>
            <a:ext cx="64008" cy="7772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2852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 titles skip steps 4 and 5 entirely — the license seat is released to the patron's account instantly once scoring clears.</a:t>
            </a:r>
            <a:endParaRPr lang="en-US" sz="15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4BCCD9D-FB9A-444D-1619-48737BF09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Layered, Service-Oriented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35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64008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18653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patron web portal · staff console · kiosk mode for branch desks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0835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64008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Services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27340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service · allocation service · circulation service · notification service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35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64008" cy="7315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&amp; Rules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36027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· scoring weights · loan policy · overdue and fine logic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10835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51960"/>
            <a:ext cx="64008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0" y="44714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for assets, loans, and patrons · event log · reporting warehouse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35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5120640"/>
            <a:ext cx="64008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0" y="53400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/ Koha · OverDrive &amp; Libby · SSO identity provider · SMS and email gateway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communicate over authenticated internal APIs; every state change is written to an append-only event log for audit and replay.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ED234AB-191E-0886-5BA7-6996C61C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Entities and Their Relationships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3564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model, firmware, battery health, condition grade, home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Branch; has many Loans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ISBN, publisher, license type, seat count, expiry,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LicenseSeats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LicenseSeat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id, status, current holder, checkout expiry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DigitalTitle; has many Loans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id, branch, eligibility tier, accessibility needs, contact prefs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Requests and Loans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format, priority score, need declaration, status, created 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Patron; yields one 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ref, checkout date, due date, renewals, return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Patron and Device or Seat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timestamp, ruleset version, decisions made, overrides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many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row is immutable once closed, giving a permanent circulation history for audit and forecasting.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1D32F-E013-1E76-965B-D81A4E2F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36575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LOGIC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Allocation Engine Decides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5778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factors and weights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/ need tier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706624"/>
            <a:ext cx="5029200" cy="914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706624"/>
            <a:ext cx="502920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already waiting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364992"/>
            <a:ext cx="5029200" cy="914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364992"/>
            <a:ext cx="3592286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purpose (study, literacy, work)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5029200" cy="914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023360"/>
            <a:ext cx="2155371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52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requirement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43525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681728"/>
            <a:ext cx="5029200" cy="914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681728"/>
            <a:ext cx="2155371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10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reliability history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5010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5340096"/>
            <a:ext cx="5029200" cy="914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5340096"/>
            <a:ext cx="1436914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1645920"/>
            <a:ext cx="4983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1645920"/>
            <a:ext cx="64008" cy="1280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8470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6560" y="230428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patron may hold more than two devices at once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older than 30 days are auto-escalated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3063240"/>
            <a:ext cx="4983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3063240"/>
            <a:ext cx="64008" cy="1280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2644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766560" y="372160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override any proposal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records a reason and reviewer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92240" y="4480560"/>
            <a:ext cx="4983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4480560"/>
            <a:ext cx="64008" cy="1280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review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766560" y="51389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re-examined each quarter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reported by demographic band</a:t>
            </a:r>
            <a:endParaRPr lang="en-US" sz="14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5609F10-A41F-E453-2FB2-698E51E9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LENDING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Licensed Digital Collections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" cy="1600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Copy / One User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physical lending: a single seat, a single reader, a fixed loan period. Simple to reason about but creates the longest hold queues.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91640"/>
            <a:ext cx="64008" cy="1600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 Access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23500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simultaneous readers. The portal releases seats the moment a loan closes, so idle time falls to near zero.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349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74720"/>
            <a:ext cx="64008" cy="160020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75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Metered by Checkout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4133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license expires after a set number of loans. Usage counters warn managers before a title silently disappears from the catalogue.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349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474720"/>
            <a:ext cx="64008" cy="1600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675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Metered by Time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0" y="4133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license expires on a calendar date. Renewal prompts are raised 60 days out with usage evidence attached.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394960"/>
            <a:ext cx="1083564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5595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Reclamation job: any seat unopened 72 hours after assignment returns to the pool automatically and the next patron in queue is notified.</a:t>
            </a:r>
            <a:endParaRPr lang="en-US" sz="15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0FF2D2-C42E-8C4A-E387-1659D5167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We Will Measure Against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74720" cy="192024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47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weekly device utilisation across the fleet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947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days from request to fulfilment for priority tiers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947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2%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for unrecovered or lost devices per year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835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86200"/>
            <a:ext cx="64008" cy="19202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indicators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allocations going to priority-tier patrons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 by branch, format, and language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hold queue depth per digital title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17920" y="4480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licensed seats used before expiry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 on manual reconciliation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satisfaction score at loan closure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[BASELINE FIGURES — replace with your library's current numbers]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72B167-EF8F-43B5-4F42-16EBD328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Over Twelve Months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2587752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1-3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880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registry and barcode intake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identity via existing SSO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staff console v1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10712" y="173736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737360"/>
            <a:ext cx="2587752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4-6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Live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2880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 and queue view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check-in / check-out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by SMS and email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173736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737360"/>
            <a:ext cx="2587752" cy="9144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7-9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&amp; Scoring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82512" y="2880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ledger and seat reclamation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engine with staff override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platform integrations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51976" y="173736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51976" y="1737360"/>
            <a:ext cx="2587752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153144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Months 10-12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3144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&amp; Scale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53144" y="2880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renewal advice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Cross-branch stock rebalancing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performance audit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D4E93A-8005-BCCC-ECF4-DFCAFBB24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Risks, Controls, and Commitments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064240" y="6172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35640" cy="39684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loss or theft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shrinkage, budget overrun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Deposit-free tiers with graduated borrowing limits and remote lock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 terms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loss of catalogue titles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ledger alerts 60 days before expiry; multi-vendor sourcing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 privacy exposure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trust, legal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history anonymised after return; role-based access; no third-party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seen as unfair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pushback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scoring criteria, visible queue position, quarterly equity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adoption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spreadsheets persist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champions, in-context training, phased spreadsheet retirement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downtime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stall mid-flow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 retries, offline check-in mode, documented manual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treated as a requirement, not a phase: WCAG 2.2 AA for both portals, plus large-print and screen-reader-ready device profiles.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C3E6C-3B8C-352C-1D6A-335CA2DB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8B00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097280"/>
            <a:ext cx="3474720" cy="3474720"/>
          </a:xfrm>
          <a:prstGeom prst="ellipse">
            <a:avLst/>
          </a:prstGeom>
          <a:solidFill>
            <a:srgbClr val="E4002B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idle assets.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Shorter queues.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Fairer access.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39776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turns three disconnected manual processes — device tracking, license management, and patron waitlists — into one auditable system that can prove where every resource went and why.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1737360"/>
            <a:ext cx="310896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1737360"/>
            <a:ext cx="64008" cy="9601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392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6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 and budget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2926080"/>
            <a:ext cx="310896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926080"/>
            <a:ext cx="64008" cy="9601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6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champion per site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4114800"/>
            <a:ext cx="310896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4114800"/>
            <a:ext cx="64008" cy="96012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242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6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equity scoring weights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3B47BF-A168-6EED-9436-BBB4D6BF9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528" y="67837"/>
            <a:ext cx="2438400" cy="658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AEAEA"/>
      </a:lt2>
      <a:accent1>
        <a:srgbClr val="8B0000"/>
      </a:accent1>
      <a:accent2>
        <a:srgbClr val="CC0000"/>
      </a:accent2>
      <a:accent3>
        <a:srgbClr val="4D4D4D"/>
      </a:accent3>
      <a:accent4>
        <a:srgbClr val="E4002B"/>
      </a:accent4>
      <a:accent5>
        <a:srgbClr val="B22222"/>
      </a:accent5>
      <a:accent6>
        <a:srgbClr val="99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1652</Words>
  <Application>Microsoft Office PowerPoint</Application>
  <PresentationFormat>Widescreen</PresentationFormat>
  <Paragraphs>295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E-Reader Resource Allocation &amp; Digital Asset Lending Portal</dc:title>
  <dc:subject>PptxGenJS Presentation</dc:subject>
  <dc:creator>Ashwanth</dc:creator>
  <cp:lastModifiedBy>dell</cp:lastModifiedBy>
  <cp:revision>4</cp:revision>
  <dcterms:created xsi:type="dcterms:W3CDTF">2026-08-27T14:25:38Z</dcterms:created>
  <dcterms:modified xsi:type="dcterms:W3CDTF">2026-09-03T15:07:32Z</dcterms:modified>
</cp:coreProperties>
</file>